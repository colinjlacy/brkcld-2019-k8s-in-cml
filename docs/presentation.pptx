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7" Type="http://schemas.openxmlformats.org/package/2006/relationships/metadata/extended-properties" Target="docProps/app0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26" autoAdjust="0"/>
  </p:normalViewPr>
  <p:slideViewPr>
    <p:cSldViewPr snapToGrid="0" snapToObjects="1">
      <p:cViewPr varScale="1">
        <p:scale>
          <a:sx n="154" d="100"/>
          <a:sy n="154" d="100"/>
        </p:scale>
        <p:origin x="88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184ED-3E94-ACEA-FB36-AD9D8792A2F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67700" y="49580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Modeling Cloud-Native Networking with Kubernetes, Cilium, and Cisco Modeling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Modeling Cloud-Native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with Kubernetes, Cilium, and Cisco Modeling Labs</a:t>
            </a:r>
          </a:p>
          <a:p>
            <a:pPr marL="0" lvl="0" indent="0">
              <a:buNone/>
            </a:pPr>
            <a:r>
              <a:t>Your Name</a:t>
            </a:r>
            <a:br/>
            <a:r>
              <a:t>Cisco Live Session 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Kubernetes Networking Feels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Pods don’t have MAC addresses</a:t>
            </a:r>
            <a:br/>
            <a:endParaRPr/>
          </a:p>
          <a:p>
            <a:pPr lvl="0"/>
            <a:r>
              <a:t>IP addresses appear and disappear</a:t>
            </a:r>
            <a:br/>
            <a:endParaRPr/>
          </a:p>
          <a:p>
            <a:pPr lvl="0"/>
            <a:r>
              <a:t>No obvious VLANs</a:t>
            </a:r>
            <a:br/>
            <a:endParaRPr/>
          </a:p>
          <a:p>
            <a:pPr lvl="0"/>
            <a:r>
              <a:t>Traffic paths feel invisible</a:t>
            </a:r>
            <a:br/>
            <a:endParaRPr/>
          </a:p>
          <a:p>
            <a:pPr lvl="0"/>
            <a:r>
              <a:t>Traditional tools feel incomplete</a:t>
            </a:r>
          </a:p>
          <a:p>
            <a:pPr marL="0" lvl="0" indent="0">
              <a:buNone/>
            </a:pPr>
            <a:r>
              <a:t>Speaker Note: Let the audience nod here. This is your alignment moment.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Core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Kubernetes Networking</a:t>
            </a:r>
            <a:r>
              <a:rPr lang="en-US" b="1" dirty="0"/>
              <a:t> </a:t>
            </a:r>
            <a:r>
              <a:rPr b="1" dirty="0"/>
              <a:t>Is Linux Networking</a:t>
            </a:r>
          </a:p>
          <a:p>
            <a:pPr lvl="0"/>
            <a:r>
              <a:rPr dirty="0"/>
              <a:t>Network namespaces</a:t>
            </a:r>
            <a:br>
              <a:rPr dirty="0"/>
            </a:br>
            <a:endParaRPr dirty="0"/>
          </a:p>
          <a:p>
            <a:pPr lvl="0"/>
            <a:r>
              <a:rPr dirty="0"/>
              <a:t>Virtual interfaces</a:t>
            </a:r>
            <a:br>
              <a:rPr dirty="0"/>
            </a:br>
            <a:endParaRPr dirty="0"/>
          </a:p>
          <a:p>
            <a:pPr lvl="0"/>
            <a:r>
              <a:rPr dirty="0"/>
              <a:t>Routing tables</a:t>
            </a:r>
            <a:br>
              <a:rPr dirty="0"/>
            </a:br>
            <a:endParaRPr dirty="0"/>
          </a:p>
          <a:p>
            <a:pPr lvl="0"/>
            <a:r>
              <a:rPr dirty="0"/>
              <a:t>Policy enforcement</a:t>
            </a:r>
          </a:p>
          <a:p>
            <a:pPr marL="0" lvl="0" indent="0">
              <a:buNone/>
            </a:pPr>
            <a:r>
              <a:rPr dirty="0"/>
              <a:t>Speaker Note: This is your thesis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We’ll Learn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Step-by-Step Progression</a:t>
            </a:r>
          </a:p>
          <a:p>
            <a:pPr marL="0" lvl="0" indent="0">
              <a:buNone/>
            </a:pPr>
            <a:r>
              <a:t>1 — Pod Networking</a:t>
            </a:r>
            <a:br/>
            <a:r>
              <a:t>2 — Services</a:t>
            </a:r>
            <a:br/>
            <a:r>
              <a:t>3 — Observability</a:t>
            </a:r>
            <a:br/>
            <a:r>
              <a:t>4 — Policy</a:t>
            </a:r>
            <a:br/>
            <a:r>
              <a:t>5 — Routed Integration</a:t>
            </a:r>
          </a:p>
          <a:p>
            <a:pPr marL="0" lvl="0" indent="0">
              <a:buNone/>
            </a:pPr>
            <a:r>
              <a:t>Speaker Note: Make it clear this builds progressively.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Lab We’ll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dirty="0">
                <a:latin typeface="Courier"/>
              </a:rPr>
              <a:t>flowchart TB
    </a:t>
            </a:r>
            <a:r>
              <a:rPr dirty="0" err="1">
                <a:latin typeface="Courier"/>
              </a:rPr>
              <a:t>ext</a:t>
            </a:r>
            <a:r>
              <a:rPr dirty="0">
                <a:latin typeface="Courier"/>
              </a:rPr>
              <a:t>["External / Internet"]
    wan["WAN Router"]
    </a:t>
            </a:r>
            <a:r>
              <a:rPr dirty="0" err="1">
                <a:latin typeface="Courier"/>
              </a:rPr>
              <a:t>sra</a:t>
            </a:r>
            <a:r>
              <a:rPr dirty="0">
                <a:latin typeface="Courier"/>
              </a:rPr>
              <a:t>["Site A Router"]
    </a:t>
            </a:r>
            <a:r>
              <a:rPr dirty="0" err="1">
                <a:latin typeface="Courier"/>
              </a:rPr>
              <a:t>srb</a:t>
            </a:r>
            <a:r>
              <a:rPr dirty="0">
                <a:latin typeface="Courier"/>
              </a:rPr>
              <a:t>["Site B Router"]
    subgraph </a:t>
            </a:r>
            <a:r>
              <a:rPr dirty="0" err="1">
                <a:latin typeface="Courier"/>
              </a:rPr>
              <a:t>clusterA</a:t>
            </a:r>
            <a:r>
              <a:rPr dirty="0">
                <a:latin typeface="Courier"/>
              </a:rPr>
              <a:t>["Cluster A"]
        </a:t>
            </a:r>
            <a:r>
              <a:rPr dirty="0" err="1">
                <a:latin typeface="Courier"/>
              </a:rPr>
              <a:t>acp</a:t>
            </a:r>
            <a:r>
              <a:rPr dirty="0">
                <a:latin typeface="Courier"/>
              </a:rPr>
              <a:t>["k8s-a-cp"]
        aw1["k8s-a-w1"]
        aw2["k8s-a-w2"]
    end
    subgraph </a:t>
            </a:r>
            <a:r>
              <a:rPr dirty="0" err="1">
                <a:latin typeface="Courier"/>
              </a:rPr>
              <a:t>clusterB</a:t>
            </a:r>
            <a:r>
              <a:rPr dirty="0">
                <a:latin typeface="Courier"/>
              </a:rPr>
              <a:t>["Cluster B"]
        </a:t>
            </a:r>
            <a:r>
              <a:rPr dirty="0" err="1">
                <a:latin typeface="Courier"/>
              </a:rPr>
              <a:t>bcp</a:t>
            </a:r>
            <a:r>
              <a:rPr dirty="0">
                <a:latin typeface="Courier"/>
              </a:rPr>
              <a:t>["k8s-b-cp"]
        bw1["k8s-b-w1"]
        bw2["k8s-b-w2"]
    end
    </a:t>
            </a:r>
            <a:r>
              <a:rPr dirty="0" err="1">
                <a:latin typeface="Courier"/>
              </a:rPr>
              <a:t>ext</a:t>
            </a:r>
            <a:r>
              <a:rPr dirty="0">
                <a:latin typeface="Courier"/>
              </a:rPr>
              <a:t> --- wan
    wan --- </a:t>
            </a:r>
            <a:r>
              <a:rPr dirty="0" err="1">
                <a:latin typeface="Courier"/>
              </a:rPr>
              <a:t>sra</a:t>
            </a:r>
            <a:r>
              <a:rPr dirty="0">
                <a:latin typeface="Courier"/>
              </a:rPr>
              <a:t>
    wan --- </a:t>
            </a:r>
            <a:r>
              <a:rPr dirty="0" err="1">
                <a:latin typeface="Courier"/>
              </a:rPr>
              <a:t>srb</a:t>
            </a:r>
            <a:r>
              <a:rPr dirty="0">
                <a:latin typeface="Courier"/>
              </a:rPr>
              <a:t>
    </a:t>
            </a:r>
            <a:r>
              <a:rPr dirty="0" err="1">
                <a:latin typeface="Courier"/>
              </a:rPr>
              <a:t>sra</a:t>
            </a:r>
            <a:r>
              <a:rPr dirty="0">
                <a:latin typeface="Courier"/>
              </a:rPr>
              <a:t> --- </a:t>
            </a:r>
            <a:r>
              <a:rPr dirty="0" err="1">
                <a:latin typeface="Courier"/>
              </a:rPr>
              <a:t>clusterA</a:t>
            </a:r>
            <a:r>
              <a:rPr dirty="0">
                <a:latin typeface="Courier"/>
              </a:rPr>
              <a:t>
    </a:t>
            </a:r>
            <a:r>
              <a:rPr dirty="0" err="1">
                <a:latin typeface="Courier"/>
              </a:rPr>
              <a:t>srb</a:t>
            </a:r>
            <a:r>
              <a:rPr dirty="0">
                <a:latin typeface="Courier"/>
              </a:rPr>
              <a:t> --- </a:t>
            </a:r>
            <a:r>
              <a:rPr dirty="0" err="1">
                <a:latin typeface="Courier"/>
              </a:rPr>
              <a:t>clusterB</a:t>
            </a:r>
            <a:endParaRPr dirty="0">
              <a:latin typeface="Courier"/>
            </a:endParaRPr>
          </a:p>
          <a:p>
            <a:pPr marL="0" lvl="0" indent="0">
              <a:buNone/>
            </a:pPr>
            <a:r>
              <a:rPr dirty="0"/>
              <a:t>Speaker Note: “This is a real routed environment, not a toy cluster.”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1 — Pod Networking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Is a Pod?</a:t>
            </a:r>
          </a:p>
          <a:p>
            <a:pPr marL="0" lvl="0" indent="0">
              <a:buNone/>
            </a:pPr>
            <a:r>
              <a:t>A pod is:</a:t>
            </a:r>
          </a:p>
          <a:p>
            <a:pPr lvl="0"/>
            <a:r>
              <a:t>A Linux network namespace</a:t>
            </a:r>
            <a:br/>
            <a:endParaRPr/>
          </a:p>
          <a:p>
            <a:pPr lvl="0"/>
            <a:r>
              <a:t>With virtual interfaces</a:t>
            </a:r>
            <a:br/>
            <a:endParaRPr/>
          </a:p>
          <a:p>
            <a:pPr lvl="0"/>
            <a:r>
              <a:t>Attached to a node</a:t>
            </a:r>
            <a:br/>
            <a:endParaRPr/>
          </a:p>
          <a:p>
            <a:pPr lvl="0"/>
            <a:r>
              <a:t>Assigned an IP address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Pod-to-Pod Packet 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  pa["Pod A"]
    na["Node A"]
    fabric["Cluster Routing"]
    nb["Node B"]
    pb["Pod B"]
    pa --&gt; na
    na --&gt; fabric
    fabric --&gt; nb
    nb --&gt; pb</a:t>
            </a:r>
          </a:p>
          <a:p>
            <a:pPr marL="0" lvl="0" indent="0">
              <a:buNone/>
            </a:pPr>
            <a:r>
              <a:t>Speaker Note: Walk through each arrow slowly.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Pod CIDRs and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Each node:</a:t>
            </a:r>
          </a:p>
          <a:p>
            <a:pPr lvl="0"/>
            <a:r>
              <a:t>Owns a Pod CIDR</a:t>
            </a:r>
            <a:br/>
            <a:endParaRPr/>
          </a:p>
          <a:p>
            <a:pPr lvl="0"/>
            <a:r>
              <a:t>Routes to other Pod CIDRs</a:t>
            </a:r>
            <a:br/>
            <a:endParaRPr/>
          </a:p>
          <a:p>
            <a:pPr lvl="0"/>
            <a:r>
              <a:t>Participates in cluster routing</a:t>
            </a:r>
          </a:p>
          <a:p>
            <a:pPr marL="0" lvl="0" indent="0">
              <a:buNone/>
            </a:pPr>
            <a:r>
              <a:t>Speaker Note: Tie this directly to Linux routing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1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Kubernetes Networking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= Automated Linux Networking</a:t>
            </a:r>
          </a:p>
          <a:p>
            <a:pPr lvl="0"/>
            <a:r>
              <a:t>Namespaces</a:t>
            </a:r>
            <a:br/>
            <a:endParaRPr/>
          </a:p>
          <a:p>
            <a:pPr lvl="0"/>
            <a:r>
              <a:t>Interfaces</a:t>
            </a:r>
            <a:br/>
            <a:endParaRPr/>
          </a:p>
          <a:p>
            <a:pPr lvl="0"/>
            <a:r>
              <a:t>Routes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2 — Service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Is a Kubernetes Service?</a:t>
            </a:r>
          </a:p>
          <a:p>
            <a:pPr marL="0" lvl="0" indent="0">
              <a:buNone/>
            </a:pPr>
            <a:r>
              <a:t>A Service provides:</a:t>
            </a:r>
          </a:p>
          <a:p>
            <a:pPr lvl="0"/>
            <a:r>
              <a:t>A Virtual IP</a:t>
            </a:r>
            <a:br/>
            <a:endParaRPr/>
          </a:p>
          <a:p>
            <a:pPr lvl="0"/>
            <a:r>
              <a:t>Backend Pods</a:t>
            </a:r>
            <a:br/>
            <a:endParaRPr/>
          </a:p>
          <a:p>
            <a:pPr lvl="0"/>
            <a:r>
              <a:t>Traffic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Service VIP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  client["Client"]
    vip["Service VIP"]
    ebpf["eBPF datapath"]
    b1["Backend Pod 1"]
    b2["Backend Pod 2"]
    client --&gt; vip
    vip --&gt; ebpf
    ebpf --&gt; b1
    ebpf -.-&gt; b2</a:t>
            </a:r>
          </a:p>
          <a:p>
            <a:pPr marL="0" lvl="0" indent="0">
              <a:buNone/>
            </a:pPr>
            <a:r>
              <a:t>Speaker Note: Explain distributed load balancing.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Traditional Networking Analogy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Kubernetes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Networking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Service VIP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Load balancer VIP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Node datapath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Distributed 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Speaker Note: This anchors understanding.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Introducing eBPF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eBPF programs:</a:t>
            </a:r>
          </a:p>
          <a:p>
            <a:pPr lvl="0"/>
            <a:r>
              <a:t>Run in kernel space</a:t>
            </a:r>
            <a:br/>
            <a:endParaRPr/>
          </a:p>
          <a:p>
            <a:pPr lvl="0"/>
            <a:r>
              <a:t>Select backend pods</a:t>
            </a:r>
            <a:br/>
            <a:endParaRPr/>
          </a:p>
          <a:p>
            <a:pPr lvl="0"/>
            <a:r>
              <a:t>Enable efficient routing</a:t>
            </a:r>
          </a:p>
          <a:p>
            <a:pPr marL="0" lvl="0" indent="0">
              <a:buNone/>
            </a:pPr>
            <a:r>
              <a:t>Speaker Note: Mention performance benefits.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2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Services behave like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distributed load balancers.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3 —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Visibility Matters</a:t>
            </a:r>
          </a:p>
          <a:p>
            <a:pPr marL="0" lvl="0" indent="0">
              <a:buNone/>
            </a:pPr>
            <a:r>
              <a:t>Without visibility:</a:t>
            </a:r>
          </a:p>
          <a:p>
            <a:pPr lvl="0"/>
            <a:r>
              <a:t>Troubleshooting is guesswork</a:t>
            </a:r>
            <a:br/>
            <a:endParaRPr/>
          </a:p>
          <a:p>
            <a:pPr lvl="0"/>
            <a:r>
              <a:t>Performance tuning is difficult</a:t>
            </a:r>
            <a:br/>
            <a:endParaRPr/>
          </a:p>
          <a:p>
            <a:pPr lvl="0"/>
            <a:r>
              <a:t>Security enforcement is uncertain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Traditional vs Kubernetes Visibility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Kubernetes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NetFlow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Hubble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eBPF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Flow visibility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Hubble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  fe["frontend"]
    be["backend"]
    db["database"]
    hub["Hubble"]
    fe --&gt; be
    be --&gt; db
    fe -.-&gt; hub
    be -.-&gt; hub
    db -.-&gt; hub</a:t>
            </a:r>
          </a:p>
          <a:p>
            <a:pPr marL="0" lvl="0" indent="0">
              <a:buNone/>
            </a:pPr>
            <a:r>
              <a:t>Speaker Note: Explain flow visibility.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Layer 7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Hubble can observe:</a:t>
            </a:r>
          </a:p>
          <a:p>
            <a:pPr lvl="0"/>
            <a:r>
              <a:t>HTTP requests</a:t>
            </a:r>
            <a:br/>
            <a:endParaRPr/>
          </a:p>
          <a:p>
            <a:pPr lvl="0"/>
            <a:r>
              <a:t>URLs</a:t>
            </a:r>
            <a:br/>
            <a:endParaRPr/>
          </a:p>
          <a:p>
            <a:pPr lvl="0"/>
            <a:r>
              <a:t>Response codes</a:t>
            </a:r>
            <a:br/>
            <a:endParaRPr/>
          </a:p>
          <a:p>
            <a:pPr lvl="0"/>
            <a:r>
              <a:t>Identity context</a:t>
            </a:r>
          </a:p>
          <a:p>
            <a:pPr marL="0" lvl="0" indent="0">
              <a:buNone/>
            </a:pPr>
            <a:r>
              <a:t>Speaker Note: This is a big “wow” factor.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3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eBPF Enables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Deep, Real-Time Visibility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4 — Identity-Based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Default Kubernetes Behavior</a:t>
            </a:r>
          </a:p>
          <a:p>
            <a:pPr lvl="0" indent="0">
              <a:buNone/>
            </a:pPr>
            <a:r>
              <a:rPr>
                <a:latin typeface="Courier"/>
              </a:rPr>
              <a:t>Any pod → Any pod</a:t>
            </a:r>
          </a:p>
          <a:p>
            <a:pPr marL="0" lvl="0" indent="0">
              <a:buNone/>
            </a:pPr>
            <a:r>
              <a:t>Speaker Note: Pause for effect.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Introducing Zero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Zero Trust:</a:t>
            </a:r>
          </a:p>
          <a:p>
            <a:pPr lvl="0"/>
            <a:r>
              <a:t>Deny by default</a:t>
            </a:r>
            <a:br/>
            <a:endParaRPr/>
          </a:p>
          <a:p>
            <a:pPr lvl="0"/>
            <a:r>
              <a:t>Allow explicitly</a:t>
            </a:r>
            <a:br/>
            <a:endParaRPr/>
          </a:p>
          <a:p>
            <a:pPr lvl="0"/>
            <a:r>
              <a:t>Verify continuously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Identity vs IP-Based Policy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IP-Based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Identity-Based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Dynamic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Fragile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Portable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Hard to maintain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Scalable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Policy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  fe["frontend"]
    be["backend"]
    db["database"]
    fe --&gt;|"allowed"| be
    be -.-x|"denied"| db</a:t>
            </a:r>
          </a:p>
          <a:p>
            <a:pPr marL="0" lvl="0" indent="0">
              <a:buNone/>
            </a:pPr>
            <a:r>
              <a:t>Speaker Note: Set expectations before live failure.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4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Policies Follow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Workloads — Not IPs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5 — Routed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Kubernetes Meets Routing</a:t>
            </a:r>
          </a:p>
          <a:p>
            <a:pPr marL="0" lvl="0" indent="0">
              <a:buNone/>
            </a:pPr>
            <a:r>
              <a:t>Services can:</a:t>
            </a:r>
          </a:p>
          <a:p>
            <a:pPr lvl="0"/>
            <a:r>
              <a:t>Have routable IPs</a:t>
            </a:r>
            <a:br/>
            <a:endParaRPr/>
          </a:p>
          <a:p>
            <a:pPr lvl="0"/>
            <a:r>
              <a:t>Be advertised via BGP</a:t>
            </a:r>
            <a:br/>
            <a:endParaRPr/>
          </a:p>
          <a:p>
            <a:pPr lvl="0"/>
            <a:r>
              <a:t>Be reached externally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Service Advertisement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TB
    svc["Service VIP"]
    cilium["Cilium BGP"]
    router["Site Router"]
    wan["WAN Router"]
    svc --&gt; cilium
    cilium --&gt; router
    router --&gt; wan</a:t>
            </a:r>
          </a:p>
          <a:p>
            <a:pPr marL="0" lvl="0" indent="0">
              <a:buNone/>
            </a:pPr>
            <a:r>
              <a:t>Speaker Note: Explain route propagation.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Cross-Site Traffic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  src["Cluster B"]
    rtb["Site B Router"]
    wan["WAN Router"]
    rta["Site A Router"]
    vip["Service VIP"]
    be["Backend Pod"]
    src --&gt; rtb
    rtb --&gt; wan
    wan --&gt; rta
    rta --&gt; vip
    vip --&gt; be</a:t>
            </a:r>
          </a:p>
          <a:p>
            <a:pPr marL="0" lvl="0" indent="0">
              <a:buNone/>
            </a:pPr>
            <a:r>
              <a:t>Speaker Note: Narrate each hop.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Kubernetes as a Routing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Clusters behave like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routed networks.</a:t>
            </a:r>
          </a:p>
          <a:p>
            <a:pPr marL="0" lvl="0" indent="0">
              <a:buNone/>
            </a:pPr>
            <a:r>
              <a:t>Speaker Note: This is a major conceptual payoff.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5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Kubernetes integrates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directly with routed infrastructure.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You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1 — Kubernetes = Linux networking</a:t>
            </a:r>
            <a:br/>
            <a:r>
              <a:t>2 — Services = distributed load balancers</a:t>
            </a:r>
            <a:br/>
            <a:r>
              <a:t>3 — eBPF = visibility</a:t>
            </a:r>
            <a:br/>
            <a:r>
              <a:t>4 — Policy = zero trust</a:t>
            </a:r>
            <a:br/>
            <a:r>
              <a:t>5 — BGP = integration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Cisco Modeling Labs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Build → Test → Break → Learn</a:t>
            </a:r>
          </a:p>
          <a:p>
            <a:pPr lvl="0"/>
            <a:r>
              <a:t>Safe experimentation</a:t>
            </a:r>
            <a:br/>
            <a:endParaRPr/>
          </a:p>
          <a:p>
            <a:pPr lvl="0"/>
            <a:r>
              <a:t>Realistic topologies</a:t>
            </a:r>
            <a:br/>
            <a:endParaRPr/>
          </a:p>
          <a:p>
            <a:pPr lvl="0"/>
            <a:r>
              <a:t>Repeatable labs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Cloud-Native Networking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Builds on What You Already Know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GitHub repository</a:t>
            </a:r>
            <a:br/>
            <a:endParaRPr/>
          </a:p>
          <a:p>
            <a:pPr lvl="0"/>
            <a:r>
              <a:t>Lab instructions</a:t>
            </a:r>
            <a:br/>
            <a:endParaRPr/>
          </a:p>
          <a:p>
            <a:pPr lvl="0"/>
            <a:r>
              <a:t>Cilium documentation</a:t>
            </a:r>
            <a:br/>
            <a:endParaRPr/>
          </a:p>
          <a:p>
            <a:pPr lvl="0"/>
            <a:r>
              <a:t>Kubernetes documentation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marL="0" lvl="0" indent="0">
              <a:buNone/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</Words>
  <Application>Microsoft Macintosh PowerPoint</Application>
  <PresentationFormat>On-screen Show (16:9)</PresentationFormat>
  <Paragraphs>164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Arial</vt:lpstr>
      <vt:lpstr>Calibri</vt:lpstr>
      <vt:lpstr>Courier</vt:lpstr>
      <vt:lpstr>Office Theme</vt:lpstr>
      <vt:lpstr>Modeling Cloud-Native Networking with Kubernetes, Cilium, and Cisco Modeling Labs</vt:lpstr>
      <vt:lpstr>Modeling Cloud-Native Networking</vt:lpstr>
      <vt:lpstr>Why Kubernetes Networking Feels Different</vt:lpstr>
      <vt:lpstr>The Core Claim</vt:lpstr>
      <vt:lpstr>How We’ll Learn This</vt:lpstr>
      <vt:lpstr>The Lab We’ll Use</vt:lpstr>
      <vt:lpstr>Demo 1 — Pod Networking Fundamentals</vt:lpstr>
      <vt:lpstr>Pod-to-Pod Packet Walk</vt:lpstr>
      <vt:lpstr>Pod CIDRs and Routing</vt:lpstr>
      <vt:lpstr>Demo 1 Takeaway</vt:lpstr>
      <vt:lpstr>Demo 2 — Service Networking</vt:lpstr>
      <vt:lpstr>Service VIP Behavior</vt:lpstr>
      <vt:lpstr>Traditional Networking Analogy</vt:lpstr>
      <vt:lpstr>PowerPoint Presentation</vt:lpstr>
      <vt:lpstr>Introducing eBPF</vt:lpstr>
      <vt:lpstr>Demo 2 Takeaway</vt:lpstr>
      <vt:lpstr>Demo 3 — Observability</vt:lpstr>
      <vt:lpstr>Traditional vs Kubernetes Visibility</vt:lpstr>
      <vt:lpstr>What Hubble Shows</vt:lpstr>
      <vt:lpstr>Layer 7 Visibility</vt:lpstr>
      <vt:lpstr>Demo 3 Takeaway</vt:lpstr>
      <vt:lpstr>Demo 4 — Identity-Based Policy</vt:lpstr>
      <vt:lpstr>Introducing Zero Trust</vt:lpstr>
      <vt:lpstr>Identity vs IP-Based Policy</vt:lpstr>
      <vt:lpstr>Policy Model</vt:lpstr>
      <vt:lpstr>Demo 4 Takeaway</vt:lpstr>
      <vt:lpstr>Demo 5 — Routed Integration</vt:lpstr>
      <vt:lpstr>Service Advertisement</vt:lpstr>
      <vt:lpstr>Cross-Site Traffic Flow</vt:lpstr>
      <vt:lpstr>Kubernetes as a Routing Domain</vt:lpstr>
      <vt:lpstr>Demo 5 Takeaway</vt:lpstr>
      <vt:lpstr>What You Learned</vt:lpstr>
      <vt:lpstr>Why Cisco Modeling Labs Matters</vt:lpstr>
      <vt:lpstr>Key Message</vt:lpstr>
      <vt:lpstr>Resources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Cloud-Native Networking with Kubernetes, Cilium, and Cisco Modeling Labs</dc:title>
  <dc:creator/>
  <cp:keywords/>
  <cp:lastModifiedBy>Colin Lacy (colacy)</cp:lastModifiedBy>
  <cp:revision>1</cp:revision>
  <dcterms:created xsi:type="dcterms:W3CDTF">2026-04-02T10:58:06Z</dcterms:created>
  <dcterms:modified xsi:type="dcterms:W3CDTF">2026-04-09T10:11:49Z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  <property fmtid="{D5CDD505-2E9C-101B-9397-08002B2CF9AE}" pid="5" name="ClassificationContentMarkingFooterLocations">
    <vt:lpwstr>Office Theme:8</vt:lpwstr>
  </property>
  <property fmtid="{D5CDD505-2E9C-101B-9397-08002B2CF9AE}" pid="6" name="ClassificationContentMarkingFooterText">
    <vt:lpwstr>Cisco Confidential</vt:lpwstr>
  </property>
</Properties>
</file>